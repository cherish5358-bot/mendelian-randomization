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9" r:id="rId5"/>
    <p:sldId id="260" r:id="rId6"/>
    <p:sldId id="258" r:id="rId7"/>
    <p:sldId id="264" r:id="rId8"/>
    <p:sldId id="266" r:id="rId9"/>
    <p:sldId id="265" r:id="rId10"/>
    <p:sldId id="261" r:id="rId11"/>
    <p:sldId id="262" r:id="rId12"/>
    <p:sldId id="263" r:id="rId13"/>
    <p:sldId id="268" r:id="rId14"/>
    <p:sldId id="267" r:id="rId15"/>
    <p:sldId id="269" r:id="rId16"/>
    <p:sldId id="271" r:id="rId17"/>
    <p:sldId id="272" r:id="rId18"/>
    <p:sldId id="273" r:id="rId19"/>
    <p:sldId id="274" r:id="rId20"/>
    <p:sldId id="277" r:id="rId21"/>
    <p:sldId id="275" r:id="rId22"/>
    <p:sldId id="276" r:id="rId23"/>
    <p:sldId id="278" r:id="rId24"/>
    <p:sldId id="280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1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39-D169-4422-AA17-DD4EE958E3A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A0-07FA-40D2-9F65-F3562CEDB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489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39-D169-4422-AA17-DD4EE958E3A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A0-07FA-40D2-9F65-F3562CEDB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52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39-D169-4422-AA17-DD4EE958E3A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A0-07FA-40D2-9F65-F3562CEDB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477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39-D169-4422-AA17-DD4EE958E3A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A0-07FA-40D2-9F65-F3562CEDB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57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39-D169-4422-AA17-DD4EE958E3A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A0-07FA-40D2-9F65-F3562CEDB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40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39-D169-4422-AA17-DD4EE958E3A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A0-07FA-40D2-9F65-F3562CEDB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026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39-D169-4422-AA17-DD4EE958E3A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A0-07FA-40D2-9F65-F3562CEDB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907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39-D169-4422-AA17-DD4EE958E3A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A0-07FA-40D2-9F65-F3562CEDB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9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39-D169-4422-AA17-DD4EE958E3A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A0-07FA-40D2-9F65-F3562CEDB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77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39-D169-4422-AA17-DD4EE958E3A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A0-07FA-40D2-9F65-F3562CEDB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10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39-D169-4422-AA17-DD4EE958E3A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A0-07FA-40D2-9F65-F3562CEDB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74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C6539-D169-4422-AA17-DD4EE958E3A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9D9A0-07FA-40D2-9F65-F3562CEDB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547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uque.com/tully-sci/consensus/wts8foqt1c2r6cqf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question/652416588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github.com/TullyMonster/MendelRookie/blob/master/3_remove_weak_IV.R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www.yuque.com/tully-sci/consensus/wts8foqt1c2r6cqf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18053" y="3727172"/>
            <a:ext cx="11767930" cy="965546"/>
          </a:xfrm>
        </p:spPr>
        <p:txBody>
          <a:bodyPr>
            <a:normAutofit fontScale="90000"/>
          </a:bodyPr>
          <a:lstStyle/>
          <a:p>
            <a:r>
              <a:rPr lang="en-US" altLang="zh-CN" b="1" dirty="0" smtClean="0"/>
              <a:t>SOP for </a:t>
            </a:r>
            <a:br>
              <a:rPr lang="en-US" altLang="zh-CN" b="1" dirty="0" smtClean="0"/>
            </a:br>
            <a:r>
              <a:rPr lang="en-US" altLang="zh-CN" b="1" dirty="0" smtClean="0"/>
              <a:t>Mendelian Randomization(MR)</a:t>
            </a:r>
            <a:br>
              <a:rPr lang="en-US" altLang="zh-CN" b="1" dirty="0" smtClean="0"/>
            </a:br>
            <a:r>
              <a:rPr lang="en-US" altLang="zh-CN" b="1" dirty="0"/>
              <a:t/>
            </a:r>
            <a:br>
              <a:rPr lang="en-US" altLang="zh-CN" b="1" dirty="0"/>
            </a:br>
            <a:r>
              <a:rPr lang="en-US" altLang="zh-CN" sz="4000" b="1" dirty="0" smtClean="0"/>
              <a:t>By </a:t>
            </a:r>
            <a:r>
              <a:rPr lang="zh-CN" altLang="en-US" sz="4000" b="1" dirty="0" smtClean="0"/>
              <a:t>王泓哲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34645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5218" y="2713382"/>
            <a:ext cx="9144000" cy="965546"/>
          </a:xfrm>
        </p:spPr>
        <p:txBody>
          <a:bodyPr/>
          <a:lstStyle/>
          <a:p>
            <a:r>
              <a:rPr lang="zh-CN" altLang="en-US" b="1" dirty="0" smtClean="0"/>
              <a:t>一、数据获取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534128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①https://gwas.mrcieu.ac.uk/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587" y="1825625"/>
            <a:ext cx="10306826" cy="435133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90261" y="1825625"/>
            <a:ext cx="1749287" cy="34110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61249" y="2902364"/>
            <a:ext cx="1104873" cy="34110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46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①https://gwas.mrcieu.ac.uk/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434" y="1450200"/>
            <a:ext cx="7579019" cy="472676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958009" y="4707973"/>
            <a:ext cx="2246243" cy="34110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321" y="4303644"/>
            <a:ext cx="4561587" cy="187332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7046843" y="5476462"/>
            <a:ext cx="2097157" cy="2058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856343" y="1453667"/>
            <a:ext cx="1239078" cy="55141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046843" y="3799375"/>
            <a:ext cx="3329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*</a:t>
            </a:r>
            <a:r>
              <a:rPr lang="zh-CN" altLang="en-US" dirty="0" smtClean="0">
                <a:solidFill>
                  <a:srgbClr val="FF0000"/>
                </a:solidFill>
              </a:rPr>
              <a:t>利用</a:t>
            </a:r>
            <a:r>
              <a:rPr lang="en-US" altLang="zh-CN" dirty="0" err="1" smtClean="0">
                <a:solidFill>
                  <a:srgbClr val="FF0000"/>
                </a:solidFill>
              </a:rPr>
              <a:t>pmid</a:t>
            </a:r>
            <a:r>
              <a:rPr lang="zh-CN" altLang="en-US" dirty="0" smtClean="0">
                <a:solidFill>
                  <a:srgbClr val="FF0000"/>
                </a:solidFill>
              </a:rPr>
              <a:t>找到数据来源的文献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041262" y="5704784"/>
            <a:ext cx="2246243" cy="1921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366446" y="561620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41719C"/>
                </a:solidFill>
              </a:rPr>
              <a:t>SNP</a:t>
            </a:r>
            <a:r>
              <a:rPr lang="zh-CN" altLang="en-US" dirty="0" smtClean="0">
                <a:solidFill>
                  <a:srgbClr val="41719C"/>
                </a:solidFill>
              </a:rPr>
              <a:t>数</a:t>
            </a:r>
            <a:endParaRPr lang="zh-CN" altLang="en-US" dirty="0">
              <a:solidFill>
                <a:srgbClr val="4171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89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①https://gwas.mrcieu.ac.uk/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194" y="1513404"/>
            <a:ext cx="7183611" cy="497577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442791" y="1614039"/>
            <a:ext cx="795131" cy="3439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237922" y="1601358"/>
            <a:ext cx="3329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*</a:t>
            </a:r>
            <a:r>
              <a:rPr lang="zh-CN" altLang="en-US" dirty="0" smtClean="0">
                <a:solidFill>
                  <a:srgbClr val="FF0000"/>
                </a:solidFill>
              </a:rPr>
              <a:t>利用</a:t>
            </a:r>
            <a:r>
              <a:rPr lang="en-US" altLang="zh-CN" dirty="0" err="1" smtClean="0">
                <a:solidFill>
                  <a:srgbClr val="FF0000"/>
                </a:solidFill>
              </a:rPr>
              <a:t>pmid</a:t>
            </a:r>
            <a:r>
              <a:rPr lang="zh-CN" altLang="en-US" dirty="0" smtClean="0">
                <a:solidFill>
                  <a:srgbClr val="FF0000"/>
                </a:solidFill>
              </a:rPr>
              <a:t>找到数据来源的文献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50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①https://gwas.mrcieu.ac.uk/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得到</a:t>
            </a:r>
            <a:r>
              <a:rPr lang="en-US" altLang="zh-CN" dirty="0" err="1" smtClean="0"/>
              <a:t>vcf</a:t>
            </a:r>
            <a:r>
              <a:rPr lang="zh-CN" altLang="en-US" dirty="0" smtClean="0"/>
              <a:t>文件 用</a:t>
            </a:r>
            <a:r>
              <a:rPr lang="en-US" altLang="zh-CN" dirty="0" smtClean="0"/>
              <a:t>excel</a:t>
            </a:r>
            <a:r>
              <a:rPr lang="zh-CN" altLang="en-US" dirty="0" smtClean="0"/>
              <a:t>打开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414" y="2441696"/>
            <a:ext cx="9408340" cy="387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09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①https://gwas.mrcieu.ac.uk/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14" y="1464137"/>
            <a:ext cx="10844772" cy="142814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0" y="3299792"/>
            <a:ext cx="1110200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/>
              <a:t>CHROM (Chromosome): </a:t>
            </a:r>
            <a:r>
              <a:rPr lang="zh-CN" altLang="en-US" sz="2000" dirty="0" smtClean="0"/>
              <a:t>染色体编号（图中均为第 </a:t>
            </a:r>
            <a:r>
              <a:rPr lang="en-US" altLang="zh-CN" sz="2000" dirty="0" smtClean="0"/>
              <a:t>1 </a:t>
            </a:r>
            <a:r>
              <a:rPr lang="zh-CN" altLang="en-US" sz="2000" dirty="0" smtClean="0"/>
              <a:t>号染色体）。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POS (Position): </a:t>
            </a:r>
            <a:r>
              <a:rPr lang="zh-CN" altLang="en-US" sz="2000" dirty="0" smtClean="0"/>
              <a:t>该位点在染色体上的碱基位置坐标。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ID: </a:t>
            </a:r>
            <a:r>
              <a:rPr lang="zh-CN" altLang="en-US" sz="2000" dirty="0" smtClean="0"/>
              <a:t>变异位点的标识符，通常是 </a:t>
            </a:r>
            <a:r>
              <a:rPr lang="en-US" altLang="zh-CN" sz="2000" dirty="0" err="1" smtClean="0"/>
              <a:t>rsID</a:t>
            </a:r>
            <a:r>
              <a:rPr lang="zh-CN" altLang="en-US" sz="2000" dirty="0" smtClean="0"/>
              <a:t>（如 </a:t>
            </a:r>
            <a:r>
              <a:rPr lang="en-US" altLang="zh-CN" sz="2000" dirty="0" smtClean="0"/>
              <a:t>rs1437771</a:t>
            </a:r>
            <a:r>
              <a:rPr lang="zh-CN" altLang="en-US" sz="2000" dirty="0" smtClean="0"/>
              <a:t>）。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b="1" dirty="0" smtClean="0"/>
              <a:t>REF</a:t>
            </a:r>
            <a:r>
              <a:rPr lang="en-US" altLang="zh-CN" sz="2000" dirty="0" smtClean="0"/>
              <a:t> (Reference Allele): </a:t>
            </a:r>
            <a:r>
              <a:rPr lang="zh-CN" altLang="en-US" sz="2000" dirty="0" smtClean="0"/>
              <a:t>参考等位基因，即人类参考基因组在该位置的碱基。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b="1" dirty="0" smtClean="0"/>
              <a:t>ALT</a:t>
            </a:r>
            <a:r>
              <a:rPr lang="en-US" altLang="zh-CN" sz="2000" dirty="0" smtClean="0"/>
              <a:t> (Alternative Allele): </a:t>
            </a:r>
            <a:r>
              <a:rPr lang="zh-CN" altLang="en-US" sz="2000" dirty="0" smtClean="0"/>
              <a:t>效应等位基因（变异等位基因），通常是分析中用来计算效应值的碱基。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8401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①https://gwas.mrcieu.ac.uk/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14" y="1464137"/>
            <a:ext cx="10844772" cy="142814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0" y="3299792"/>
            <a:ext cx="112279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/>
              <a:t>QUAL / FILTER: </a:t>
            </a:r>
            <a:r>
              <a:rPr lang="zh-CN" altLang="en-US" sz="2000" dirty="0" smtClean="0"/>
              <a:t>质量评分和过滤状态。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图中显示为 </a:t>
            </a:r>
            <a:r>
              <a:rPr lang="en-US" altLang="zh-CN" sz="2000" dirty="0" smtClean="0"/>
              <a:t>PASS</a:t>
            </a:r>
            <a:r>
              <a:rPr lang="zh-CN" altLang="en-US" sz="2000" dirty="0" smtClean="0"/>
              <a:t>，意味着该位点通过了初期的质量控制过滤。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INFO: </a:t>
            </a:r>
            <a:r>
              <a:rPr lang="zh-CN" altLang="en-US" sz="2000" dirty="0" smtClean="0"/>
              <a:t>信息栏。这里显示了 </a:t>
            </a:r>
            <a:r>
              <a:rPr lang="en-US" altLang="zh-CN" sz="2000" b="1" dirty="0" smtClean="0"/>
              <a:t>AF</a:t>
            </a:r>
            <a:r>
              <a:rPr lang="en-US" altLang="zh-CN" sz="2000" dirty="0" smtClean="0"/>
              <a:t> (Allele Frequency)</a:t>
            </a:r>
            <a:r>
              <a:rPr lang="zh-CN" altLang="en-US" sz="2000" dirty="0" smtClean="0"/>
              <a:t>，即 </a:t>
            </a:r>
            <a:r>
              <a:rPr lang="en-US" altLang="zh-CN" sz="2000" dirty="0" smtClean="0"/>
              <a:t>ALT </a:t>
            </a:r>
            <a:r>
              <a:rPr lang="zh-CN" altLang="en-US" sz="2000" dirty="0" smtClean="0"/>
              <a:t>等位基因在人群中的频率。例如 </a:t>
            </a:r>
            <a:r>
              <a:rPr lang="en-US" altLang="zh-CN" sz="2000" dirty="0" smtClean="0"/>
              <a:t>AF=0.0022 </a:t>
            </a:r>
            <a:r>
              <a:rPr lang="zh-CN" altLang="en-US" sz="2000" dirty="0" smtClean="0"/>
              <a:t>表示该变异非常罕见。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3404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①https://gwas.mrcieu.ac.uk/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14" y="1464137"/>
            <a:ext cx="10844772" cy="142814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0" y="3299792"/>
            <a:ext cx="1122790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/>
              <a:t>FORMAT </a:t>
            </a:r>
            <a:r>
              <a:rPr lang="zh-CN" altLang="en-US" sz="2000" dirty="0" smtClean="0"/>
              <a:t>栏定义了右侧 </a:t>
            </a:r>
            <a:r>
              <a:rPr lang="en-US" altLang="zh-CN" sz="2000" dirty="0" smtClean="0"/>
              <a:t>ieu-b-4877 </a:t>
            </a:r>
            <a:r>
              <a:rPr lang="zh-CN" altLang="en-US" sz="2000" dirty="0" smtClean="0"/>
              <a:t>列中各数值的顺序：</a:t>
            </a:r>
            <a:r>
              <a:rPr lang="en-US" altLang="zh-CN" sz="2000" dirty="0" smtClean="0"/>
              <a:t>ES : SE : LP : AF : ID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/>
              <a:t>ES</a:t>
            </a:r>
            <a:r>
              <a:rPr lang="zh-CN" altLang="en-US" sz="2000" b="1" dirty="0" smtClean="0"/>
              <a:t>（</a:t>
            </a:r>
            <a:r>
              <a:rPr lang="en-US" altLang="zh-CN" sz="2000" b="1" dirty="0" smtClean="0"/>
              <a:t>Beta</a:t>
            </a:r>
            <a:r>
              <a:rPr lang="zh-CN" altLang="en-US" sz="2000" b="1" dirty="0" smtClean="0"/>
              <a:t>）</a:t>
            </a:r>
            <a:r>
              <a:rPr lang="en-US" altLang="zh-CN" sz="2000" dirty="0" smtClean="0"/>
              <a:t>(Effect Size): </a:t>
            </a:r>
            <a:r>
              <a:rPr lang="zh-CN" altLang="en-US" sz="2000" dirty="0" smtClean="0"/>
              <a:t>效应值。正值表示该等位基因增加表型风险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数值，负值表示减少。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b="1" dirty="0" smtClean="0"/>
              <a:t>SE </a:t>
            </a:r>
            <a:r>
              <a:rPr lang="en-US" altLang="zh-CN" sz="2000" dirty="0" smtClean="0"/>
              <a:t>(Standard Error): </a:t>
            </a:r>
            <a:r>
              <a:rPr lang="zh-CN" altLang="en-US" sz="2000" dirty="0" smtClean="0"/>
              <a:t>标准误。衡量效应值的不确定性。</a:t>
            </a:r>
            <a:r>
              <a:rPr lang="en-US" altLang="zh-CN" sz="2000" dirty="0" smtClean="0"/>
              <a:t>SE </a:t>
            </a:r>
            <a:r>
              <a:rPr lang="zh-CN" altLang="en-US" sz="2000" dirty="0" smtClean="0"/>
              <a:t>越小，估计越精确。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b="1" dirty="0" smtClean="0"/>
              <a:t>LP</a:t>
            </a:r>
            <a:r>
              <a:rPr lang="en-US" altLang="zh-CN" sz="2000" dirty="0" smtClean="0"/>
              <a:t> (-log10 P-value): P</a:t>
            </a:r>
            <a:r>
              <a:rPr lang="zh-CN" altLang="en-US" sz="2000" dirty="0" smtClean="0"/>
              <a:t>值的负对数。这是为了方便观察显著性。如果</a:t>
            </a:r>
            <a:r>
              <a:rPr lang="en-US" altLang="zh-CN" sz="2000" dirty="0" smtClean="0"/>
              <a:t>LP = 2</a:t>
            </a:r>
            <a:r>
              <a:rPr lang="zh-CN" altLang="en-US" sz="2000" dirty="0" smtClean="0"/>
              <a:t>，则对应的 </a:t>
            </a:r>
            <a:r>
              <a:rPr lang="en-US" altLang="zh-CN" sz="2000" dirty="0" smtClean="0"/>
              <a:t>P = 10^-2 = 0.01</a:t>
            </a:r>
            <a:r>
              <a:rPr lang="zh-CN" altLang="en-US" sz="2000" dirty="0" smtClean="0"/>
              <a:t>。通常 </a:t>
            </a:r>
            <a:r>
              <a:rPr lang="en-US" altLang="zh-CN" sz="2000" b="1" dirty="0" smtClean="0"/>
              <a:t>GWAS </a:t>
            </a:r>
            <a:r>
              <a:rPr lang="zh-CN" altLang="en-US" sz="2000" b="1" dirty="0" smtClean="0"/>
              <a:t>的显著性阈值为 </a:t>
            </a:r>
            <a:r>
              <a:rPr lang="en-US" altLang="zh-CN" sz="2000" b="1" dirty="0" smtClean="0"/>
              <a:t>5*10^-8</a:t>
            </a:r>
            <a:r>
              <a:rPr lang="zh-CN" altLang="en-US" sz="2000" b="1" dirty="0" smtClean="0"/>
              <a:t>，对应的</a:t>
            </a:r>
            <a:r>
              <a:rPr lang="en-US" altLang="zh-CN" sz="2000" b="1" dirty="0" smtClean="0"/>
              <a:t>LP</a:t>
            </a:r>
            <a:r>
              <a:rPr lang="zh-CN" altLang="en-US" sz="2000" b="1" dirty="0" smtClean="0"/>
              <a:t>应大于</a:t>
            </a:r>
            <a:r>
              <a:rPr lang="en-US" altLang="zh-CN" sz="2000" b="1" dirty="0" smtClean="0"/>
              <a:t>7.3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b="1" dirty="0" smtClean="0"/>
              <a:t>AF </a:t>
            </a:r>
            <a:r>
              <a:rPr lang="en-US" altLang="zh-CN" sz="2000" dirty="0" smtClean="0"/>
              <a:t>(Allele Frequency): </a:t>
            </a:r>
            <a:r>
              <a:rPr lang="zh-CN" altLang="en-US" sz="2000" dirty="0" smtClean="0"/>
              <a:t>再次确认的等位基因频率。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b="1" dirty="0" smtClean="0"/>
              <a:t>ID</a:t>
            </a:r>
            <a:r>
              <a:rPr lang="en-US" altLang="zh-CN" sz="2000" dirty="0" smtClean="0"/>
              <a:t>: </a:t>
            </a:r>
            <a:r>
              <a:rPr lang="zh-CN" altLang="en-US" sz="2000" dirty="0" smtClean="0"/>
              <a:t>重复确认的 </a:t>
            </a:r>
            <a:r>
              <a:rPr lang="en-US" altLang="zh-CN" sz="2000" dirty="0" err="1" smtClean="0"/>
              <a:t>rs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号或唯一标识。</a:t>
            </a:r>
            <a:endParaRPr lang="en-US" altLang="zh-CN" sz="2000" dirty="0" smtClean="0"/>
          </a:p>
        </p:txBody>
      </p:sp>
      <p:sp>
        <p:nvSpPr>
          <p:cNvPr id="7" name="矩形 6"/>
          <p:cNvSpPr/>
          <p:nvPr/>
        </p:nvSpPr>
        <p:spPr>
          <a:xfrm>
            <a:off x="6311348" y="1621909"/>
            <a:ext cx="1391477" cy="142940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39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②https://www.finngen.fi/en/access_results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477" y="2141853"/>
            <a:ext cx="6287045" cy="37188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140765" y="5254625"/>
            <a:ext cx="3985592" cy="41067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28" y="1862944"/>
            <a:ext cx="9164344" cy="439294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②https://www.finngen.fi/en/access_results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512364" y="3886200"/>
            <a:ext cx="2325758" cy="27253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10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②https://www.finngen.fi/en/access_results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05" y="1690688"/>
            <a:ext cx="11949195" cy="338357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184373" y="3016251"/>
            <a:ext cx="4005470" cy="63141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72817" y="5568827"/>
            <a:ext cx="4801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下载</a:t>
            </a:r>
            <a:r>
              <a:rPr lang="en-US" altLang="zh-CN" sz="2400" dirty="0" err="1" smtClean="0"/>
              <a:t>tsv</a:t>
            </a:r>
            <a:r>
              <a:rPr lang="zh-CN" altLang="en-US" sz="2400" dirty="0" smtClean="0"/>
              <a:t>表格</a:t>
            </a:r>
            <a:endParaRPr lang="en-US" altLang="zh-CN" sz="2400" dirty="0" smtClean="0"/>
          </a:p>
          <a:p>
            <a:r>
              <a:rPr lang="zh-CN" altLang="en-US" sz="2400" dirty="0" smtClean="0"/>
              <a:t>检索表格中关键词对应的下载网址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5578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5218" y="2713382"/>
            <a:ext cx="9144000" cy="965546"/>
          </a:xfrm>
        </p:spPr>
        <p:txBody>
          <a:bodyPr/>
          <a:lstStyle/>
          <a:p>
            <a:r>
              <a:rPr lang="zh-CN" altLang="en-US" b="1" dirty="0"/>
              <a:t>二</a:t>
            </a:r>
            <a:r>
              <a:rPr lang="zh-CN" altLang="en-US" b="1" dirty="0" smtClean="0"/>
              <a:t>、分析流程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60887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16912" y="471636"/>
            <a:ext cx="12181540" cy="638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MR 分析流程</a:t>
            </a:r>
            <a:endParaRPr kumimoji="0" lang="en-US" altLang="zh-CN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获取暴露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变量</a:t>
            </a:r>
            <a:r>
              <a:rPr kumimoji="0" lang="zh-CN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和结局</a:t>
            </a:r>
            <a:r>
              <a:rPr lang="zh-CN" altLang="en-US" sz="2000" b="1" dirty="0">
                <a:latin typeface="+mn-ea"/>
              </a:rPr>
              <a:t>变量</a:t>
            </a:r>
            <a:r>
              <a:rPr kumimoji="0" lang="zh-CN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 GWAS 数据</a:t>
            </a:r>
            <a:endParaRPr kumimoji="0" lang="zh-CN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选择工具变量：</a:t>
            </a: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选择与暴露具有强相关的工具变量（过滤条件一般是 P &lt; 5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*</a:t>
            </a: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10^-8）。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去除连锁不平衡：</a:t>
            </a: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设置参数 kb=10000, R^2 &lt; 0.001，确保工具变量之间相互独立。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zh-CN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CN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进行 MR 分析：</a:t>
            </a: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计算效应，常用方法包括：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逆方差加权法 (Inverse Variance Weighted, </a:t>
            </a:r>
            <a:r>
              <a:rPr kumimoji="0" lang="zh-CN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IVW</a:t>
            </a: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通常作为核心结果，要求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SNP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均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没有水平多效性</a:t>
            </a:r>
            <a:endParaRPr kumimoji="0" lang="zh-CN" altLang="zh-CN" sz="20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加权中位数估计 (Weighted Median, </a:t>
            </a:r>
            <a:r>
              <a:rPr kumimoji="0" lang="zh-CN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WM</a:t>
            </a: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MR-Egger 法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截距如果显著不为 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0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，说明存在偏倚</a:t>
            </a:r>
            <a:endParaRPr lang="en-US" altLang="zh-CN" sz="2000" dirty="0">
              <a:solidFill>
                <a:srgbClr val="FF0000"/>
              </a:solidFill>
              <a:latin typeface="+mn-ea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zh-CN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zh-CN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进行敏感性分析：</a:t>
            </a: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评估结果是否稳健，包括：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多效性检验</a:t>
            </a: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(Pleiotropy Test)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effectLst/>
                <a:latin typeface="+mn-ea"/>
              </a:rPr>
              <a:t>MR-PRESSO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effectLst/>
                <a:latin typeface="+mn-ea"/>
              </a:rPr>
              <a:t>等，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最关键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。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如果 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SNP 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通过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不经过“暴露”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的其他途径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影响了“结局”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，那么因果关系推断就不成立。</a:t>
            </a:r>
            <a:endParaRPr kumimoji="0" lang="zh-CN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异质性检验</a:t>
            </a: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(Heterogeneity Test)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000" dirty="0">
                <a:latin typeface="+mn-ea"/>
              </a:rPr>
              <a:t>异质性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Cochran's Q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）：如果显著，说明不同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SNP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之间计算出的效应差异很大。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zh-CN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zh-CN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结果可视化：</a:t>
            </a: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如散点图 (Scatter plot)、森林图 (Forest plot)、漏斗图 (Funnel plot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, 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多效性检验的一种</a:t>
            </a: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 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471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68961" y="2418080"/>
            <a:ext cx="113283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两样本 </a:t>
            </a:r>
            <a:r>
              <a:rPr lang="en-US" altLang="zh-CN" sz="2000" b="1" dirty="0" smtClean="0"/>
              <a:t>MR </a:t>
            </a:r>
            <a:r>
              <a:rPr lang="en-US" altLang="zh-CN" sz="2000" dirty="0" smtClean="0"/>
              <a:t>(Two-Sample MR)</a:t>
            </a:r>
            <a:r>
              <a:rPr lang="zh-CN" altLang="en-US" sz="2000" dirty="0" smtClean="0"/>
              <a:t>：最基础、最常用。暴露和结局的数据来自两个独立的人群样本。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zh-CN" altLang="en-US" sz="2000" b="1" dirty="0" smtClean="0"/>
              <a:t>双向 </a:t>
            </a:r>
            <a:r>
              <a:rPr lang="en-US" altLang="zh-CN" sz="2000" b="1" dirty="0" smtClean="0"/>
              <a:t>MR </a:t>
            </a:r>
            <a:r>
              <a:rPr lang="en-US" altLang="zh-CN" sz="2000" dirty="0" smtClean="0"/>
              <a:t>(Bidirectional MR)</a:t>
            </a:r>
            <a:r>
              <a:rPr lang="zh-CN" altLang="en-US" sz="2000" dirty="0" smtClean="0"/>
              <a:t>：同时检验“</a:t>
            </a:r>
            <a:r>
              <a:rPr lang="en-US" altLang="zh-CN" sz="2000" dirty="0" smtClean="0"/>
              <a:t>A </a:t>
            </a:r>
            <a:r>
              <a:rPr lang="zh-CN" altLang="en-US" sz="2000" dirty="0" smtClean="0"/>
              <a:t>是否导致 </a:t>
            </a:r>
            <a:r>
              <a:rPr lang="en-US" altLang="zh-CN" sz="2000" dirty="0" smtClean="0"/>
              <a:t>B”</a:t>
            </a:r>
            <a:r>
              <a:rPr lang="zh-CN" altLang="en-US" sz="2000" dirty="0" smtClean="0"/>
              <a:t>以及“</a:t>
            </a:r>
            <a:r>
              <a:rPr lang="en-US" altLang="zh-CN" sz="2000" dirty="0" smtClean="0"/>
              <a:t>B </a:t>
            </a:r>
            <a:r>
              <a:rPr lang="zh-CN" altLang="en-US" sz="2000" dirty="0" smtClean="0"/>
              <a:t>是否导致 </a:t>
            </a:r>
            <a:r>
              <a:rPr lang="en-US" altLang="zh-CN" sz="2000" dirty="0" smtClean="0"/>
              <a:t>A”</a:t>
            </a:r>
            <a:r>
              <a:rPr lang="zh-CN" altLang="en-US" sz="2000" dirty="0" smtClean="0">
                <a:solidFill>
                  <a:srgbClr val="FF0000"/>
                </a:solidFill>
              </a:rPr>
              <a:t>，（</a:t>
            </a:r>
            <a:r>
              <a:rPr lang="en-US" altLang="zh-CN" sz="2000" dirty="0" smtClean="0">
                <a:solidFill>
                  <a:srgbClr val="FF0000"/>
                </a:solidFill>
              </a:rPr>
              <a:t>A/B</a:t>
            </a:r>
            <a:r>
              <a:rPr lang="zh-CN" altLang="en-US" sz="2000" dirty="0" smtClean="0">
                <a:solidFill>
                  <a:srgbClr val="FF0000"/>
                </a:solidFill>
              </a:rPr>
              <a:t>分别是暴露变量、工具变量）</a:t>
            </a:r>
            <a:r>
              <a:rPr lang="zh-CN" altLang="en-US" sz="2000" dirty="0" smtClean="0"/>
              <a:t>用于排除反向因果关系。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zh-CN" altLang="en-US" sz="2000" b="1" dirty="0" smtClean="0"/>
              <a:t>多变量 </a:t>
            </a:r>
            <a:r>
              <a:rPr lang="en-US" altLang="zh-CN" sz="2000" b="1" dirty="0" smtClean="0"/>
              <a:t>MR </a:t>
            </a:r>
            <a:r>
              <a:rPr lang="en-US" altLang="zh-CN" sz="2000" dirty="0" smtClean="0"/>
              <a:t>(Multivariable MR, MVMR)</a:t>
            </a:r>
            <a:r>
              <a:rPr lang="zh-CN" altLang="en-US" sz="2000" dirty="0" smtClean="0"/>
              <a:t>：当多个暴露因素（如 </a:t>
            </a:r>
            <a:r>
              <a:rPr lang="en-US" altLang="zh-CN" sz="2000" dirty="0" smtClean="0"/>
              <a:t>LDL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HDL</a:t>
            </a:r>
            <a:r>
              <a:rPr lang="zh-CN" altLang="en-US" sz="2000" dirty="0" smtClean="0"/>
              <a:t>、甘油三酯）高度相关时，通过 </a:t>
            </a:r>
            <a:r>
              <a:rPr lang="en-US" altLang="zh-CN" sz="2000" dirty="0" smtClean="0"/>
              <a:t>MVMR </a:t>
            </a:r>
            <a:r>
              <a:rPr lang="zh-CN" altLang="en-US" sz="2000" dirty="0" smtClean="0"/>
              <a:t>区分出哪个才是真正的独立致病因素。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zh-CN" altLang="en-US" sz="2000" b="1" dirty="0" smtClean="0"/>
              <a:t>中介 </a:t>
            </a:r>
            <a:r>
              <a:rPr lang="en-US" altLang="zh-CN" sz="2000" b="1" dirty="0" smtClean="0"/>
              <a:t>MR </a:t>
            </a:r>
            <a:r>
              <a:rPr lang="en-US" altLang="zh-CN" sz="2000" dirty="0" smtClean="0"/>
              <a:t>(Mediation MR)</a:t>
            </a:r>
            <a:r>
              <a:rPr lang="zh-CN" altLang="en-US" sz="2000" dirty="0" smtClean="0"/>
              <a:t>：探讨因果链条中间的机制，例如“肥胖</a:t>
            </a:r>
            <a:r>
              <a:rPr lang="zh-CN" altLang="en-US" sz="2000" dirty="0"/>
              <a:t>→</a:t>
            </a:r>
            <a:r>
              <a:rPr lang="zh-CN" altLang="en-US" sz="2000" dirty="0" smtClean="0"/>
              <a:t>炎症→糖尿病”，分析炎症在其中的贡献占比。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985521" y="751840"/>
            <a:ext cx="2871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常见的</a:t>
            </a:r>
            <a:r>
              <a:rPr lang="en-US" altLang="zh-CN" sz="3200" b="1" dirty="0" smtClean="0"/>
              <a:t>MR</a:t>
            </a:r>
            <a:r>
              <a:rPr lang="zh-CN" altLang="en-US" sz="3200" b="1" dirty="0" smtClean="0"/>
              <a:t>方法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2648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41243" y="4234271"/>
            <a:ext cx="9144000" cy="965546"/>
          </a:xfrm>
        </p:spPr>
        <p:txBody>
          <a:bodyPr>
            <a:normAutofit fontScale="90000"/>
          </a:bodyPr>
          <a:lstStyle/>
          <a:p>
            <a:r>
              <a:rPr lang="zh-CN" altLang="en-US" b="1" dirty="0"/>
              <a:t>三</a:t>
            </a:r>
            <a:r>
              <a:rPr lang="zh-CN" altLang="en-US" b="1" dirty="0" smtClean="0"/>
              <a:t>、复现</a:t>
            </a:r>
            <a:r>
              <a:rPr lang="en-US" altLang="zh-CN" b="1" dirty="0"/>
              <a:t/>
            </a:r>
            <a:br>
              <a:rPr lang="en-US" altLang="zh-CN" b="1" dirty="0"/>
            </a:br>
            <a:r>
              <a:rPr lang="en-US" altLang="zh-CN" b="1" dirty="0"/>
              <a:t/>
            </a:r>
            <a:br>
              <a:rPr lang="en-US" altLang="zh-CN" b="1" dirty="0"/>
            </a:br>
            <a:r>
              <a:rPr lang="en-US" altLang="zh-CN" sz="3600" b="1" dirty="0">
                <a:hlinkClick r:id="rId2"/>
              </a:rPr>
              <a:t>https://www.yuque.com/tully-sci/consensus/wts8foqt1c2r6cqf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98431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5521" y="1587656"/>
            <a:ext cx="113283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一般</a:t>
            </a:r>
            <a:r>
              <a:rPr lang="zh-CN" altLang="en-US" sz="2000" b="1" dirty="0" smtClean="0"/>
              <a:t>从</a:t>
            </a:r>
            <a:r>
              <a:rPr lang="en-US" altLang="zh-CN" sz="2000" dirty="0"/>
              <a:t>① </a:t>
            </a:r>
            <a:r>
              <a:rPr lang="en-US" altLang="zh-CN" sz="2000" b="1" dirty="0" smtClean="0"/>
              <a:t>https</a:t>
            </a:r>
            <a:r>
              <a:rPr lang="en-US" altLang="zh-CN" sz="2000" b="1" dirty="0"/>
              <a:t>://gwas.mrcieu.ac.uk/ </a:t>
            </a:r>
            <a:r>
              <a:rPr lang="zh-CN" altLang="en-US" sz="2000" b="1" dirty="0"/>
              <a:t>的主页分别获取暴露因素与结局的 </a:t>
            </a:r>
            <a:r>
              <a:rPr lang="en-US" altLang="zh-CN" sz="2000" b="1" dirty="0"/>
              <a:t>GWAS </a:t>
            </a:r>
            <a:r>
              <a:rPr lang="zh-CN" altLang="en-US" sz="2000" b="1" dirty="0"/>
              <a:t>数据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endParaRPr lang="en-US" altLang="zh-CN" sz="2000" b="1" dirty="0"/>
          </a:p>
          <a:p>
            <a:r>
              <a:rPr lang="zh-CN" altLang="en-US" sz="2000" dirty="0" smtClean="0"/>
              <a:t>在本</a:t>
            </a:r>
            <a:r>
              <a:rPr lang="en-US" altLang="zh-CN" sz="2000" dirty="0" smtClean="0"/>
              <a:t>SOP</a:t>
            </a:r>
            <a:r>
              <a:rPr lang="zh-CN" altLang="en-US" sz="2000" dirty="0" smtClean="0"/>
              <a:t>中，</a:t>
            </a:r>
            <a:endParaRPr lang="en-US" altLang="zh-CN" sz="2000" dirty="0" smtClean="0"/>
          </a:p>
          <a:p>
            <a:r>
              <a:rPr lang="zh-CN" altLang="en-US" sz="2000" dirty="0" smtClean="0"/>
              <a:t>暴露</a:t>
            </a:r>
            <a:r>
              <a:rPr lang="zh-CN" altLang="en-US" sz="2000" dirty="0"/>
              <a:t>变量</a:t>
            </a:r>
            <a:r>
              <a:rPr lang="zh-CN" altLang="en-US" sz="2000" dirty="0" smtClean="0"/>
              <a:t>是</a:t>
            </a:r>
            <a:r>
              <a:rPr lang="zh-CN" altLang="en-US" sz="2000" b="1" dirty="0"/>
              <a:t>体重指数 </a:t>
            </a:r>
            <a:r>
              <a:rPr lang="en-US" altLang="zh-CN" sz="2000" b="1" dirty="0"/>
              <a:t>(body mass index, BMI)</a:t>
            </a:r>
            <a:r>
              <a:rPr lang="zh-CN" altLang="en-US" sz="2000" dirty="0" smtClean="0"/>
              <a:t>，</a:t>
            </a:r>
            <a:endParaRPr lang="en-US" altLang="zh-CN" sz="2000" dirty="0" smtClean="0"/>
          </a:p>
          <a:p>
            <a:r>
              <a:rPr lang="zh-CN" altLang="en-US" sz="2000" dirty="0" smtClean="0"/>
              <a:t>结局变量是</a:t>
            </a:r>
            <a:r>
              <a:rPr lang="zh-CN" altLang="en-US" sz="2000" b="1" dirty="0"/>
              <a:t>冠心病 </a:t>
            </a:r>
            <a:r>
              <a:rPr lang="en-US" altLang="zh-CN" sz="2000" b="1" dirty="0"/>
              <a:t>(Coronary heart disease)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zh-CN" altLang="en-US" sz="2000" dirty="0" smtClean="0"/>
              <a:t>根据</a:t>
            </a:r>
            <a:r>
              <a:rPr lang="zh-CN" altLang="en-US" sz="2000" dirty="0"/>
              <a:t>以下筛选依据，挑选合适的数据源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r>
              <a:rPr lang="en-US" altLang="zh-CN" sz="2000" dirty="0" smtClean="0"/>
              <a:t>1</a:t>
            </a:r>
            <a:r>
              <a:rPr lang="zh-CN" altLang="en-US" sz="2000" dirty="0" smtClean="0"/>
              <a:t>、更</a:t>
            </a:r>
            <a:r>
              <a:rPr lang="zh-CN" altLang="en-US" sz="2000" dirty="0"/>
              <a:t>近年份 </a:t>
            </a:r>
            <a:r>
              <a:rPr lang="en-US" altLang="zh-CN" sz="2000" dirty="0"/>
              <a:t>(Year) </a:t>
            </a:r>
            <a:r>
              <a:rPr lang="zh-CN" altLang="en-US" sz="2000" dirty="0"/>
              <a:t>的数据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en-US" altLang="zh-CN" sz="2000" dirty="0" smtClean="0"/>
              <a:t>2</a:t>
            </a:r>
            <a:r>
              <a:rPr lang="zh-CN" altLang="en-US" sz="2000" dirty="0" smtClean="0"/>
              <a:t>、更</a:t>
            </a:r>
            <a:r>
              <a:rPr lang="zh-CN" altLang="en-US" sz="2000" dirty="0"/>
              <a:t>大的样本数 </a:t>
            </a:r>
            <a:r>
              <a:rPr lang="en-US" altLang="zh-CN" sz="2000" dirty="0"/>
              <a:t>(Sample size)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en-US" altLang="zh-CN" sz="2000" dirty="0" smtClean="0"/>
              <a:t>3</a:t>
            </a:r>
            <a:r>
              <a:rPr lang="zh-CN" altLang="en-US" sz="2000" dirty="0" smtClean="0"/>
              <a:t>、更多</a:t>
            </a:r>
            <a:r>
              <a:rPr lang="zh-CN" altLang="en-US" sz="2000" dirty="0"/>
              <a:t>的 </a:t>
            </a:r>
            <a:r>
              <a:rPr lang="en-US" altLang="zh-CN" sz="2000" dirty="0"/>
              <a:t>SNP </a:t>
            </a:r>
            <a:r>
              <a:rPr lang="zh-CN" altLang="en-US" sz="2000" dirty="0"/>
              <a:t>个数 </a:t>
            </a:r>
            <a:r>
              <a:rPr lang="en-US" altLang="zh-CN" sz="2000" dirty="0"/>
              <a:t>(Number of SNPs)</a:t>
            </a:r>
            <a:r>
              <a:rPr lang="zh-CN" altLang="en-US" sz="2000" dirty="0"/>
              <a:t>（至少</a:t>
            </a:r>
            <a:r>
              <a:rPr lang="zh-CN" altLang="en-US" sz="2000" dirty="0" smtClean="0"/>
              <a:t>超过</a:t>
            </a:r>
            <a:r>
              <a:rPr lang="en-US" altLang="zh-CN" sz="2000" dirty="0" smtClean="0"/>
              <a:t>2,000,000</a:t>
            </a:r>
            <a:r>
              <a:rPr lang="zh-CN" altLang="en-US" sz="2000" dirty="0"/>
              <a:t>）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endParaRPr lang="en-US" altLang="zh-CN" sz="2000" dirty="0"/>
          </a:p>
          <a:p>
            <a:r>
              <a:rPr lang="zh-CN" altLang="en-US" sz="2000" dirty="0"/>
              <a:t>最终得到两个变异识别格式 </a:t>
            </a:r>
            <a:r>
              <a:rPr lang="en-US" altLang="zh-CN" sz="2000" dirty="0"/>
              <a:t>(Variant Call Format, VCF) </a:t>
            </a:r>
            <a:r>
              <a:rPr lang="zh-CN" altLang="en-US" sz="2000" dirty="0"/>
              <a:t>的文件，</a:t>
            </a:r>
            <a:endParaRPr lang="en-US" altLang="zh-CN" sz="2000" dirty="0"/>
          </a:p>
          <a:p>
            <a:r>
              <a:rPr lang="zh-CN" altLang="en-US" sz="2000" dirty="0"/>
              <a:t>用于描述序列与参考基因组的比对情况：</a:t>
            </a:r>
            <a:endParaRPr lang="en-US" altLang="zh-CN" sz="2000" dirty="0"/>
          </a:p>
          <a:p>
            <a:r>
              <a:rPr lang="en-US" altLang="zh-CN" sz="2000" dirty="0"/>
              <a:t>1</a:t>
            </a:r>
            <a:r>
              <a:rPr lang="zh-CN" altLang="en-US" sz="2000" dirty="0"/>
              <a:t>、体重指数数据集：</a:t>
            </a:r>
            <a:r>
              <a:rPr lang="en-US" altLang="zh-CN" sz="2000" b="1" dirty="0"/>
              <a:t>ieu-a-2</a:t>
            </a:r>
            <a:r>
              <a:rPr lang="zh-CN" altLang="en-US" sz="2000" dirty="0"/>
              <a:t>（</a:t>
            </a:r>
            <a:r>
              <a:rPr lang="en-US" altLang="zh-CN" sz="2000" dirty="0"/>
              <a:t>SNP </a:t>
            </a:r>
            <a:r>
              <a:rPr lang="zh-CN" altLang="en-US" sz="2000" dirty="0"/>
              <a:t>数：</a:t>
            </a:r>
            <a:r>
              <a:rPr lang="en-US" altLang="zh-CN" sz="2000" dirty="0"/>
              <a:t>2,555,511</a:t>
            </a:r>
            <a:r>
              <a:rPr lang="zh-CN" altLang="en-US" sz="2000" dirty="0"/>
              <a:t>）；</a:t>
            </a:r>
            <a:endParaRPr lang="en-US" altLang="zh-CN" sz="2000" dirty="0"/>
          </a:p>
          <a:p>
            <a:r>
              <a:rPr lang="en-US" altLang="zh-CN" sz="2000" dirty="0"/>
              <a:t>2</a:t>
            </a:r>
            <a:r>
              <a:rPr lang="zh-CN" altLang="en-US" sz="2000" dirty="0"/>
              <a:t>、冠心病数据集：</a:t>
            </a:r>
            <a:r>
              <a:rPr lang="en-US" altLang="zh-CN" sz="2000" b="1" dirty="0"/>
              <a:t>ieu-a-7</a:t>
            </a:r>
            <a:r>
              <a:rPr lang="zh-CN" altLang="en-US" sz="2000" dirty="0"/>
              <a:t>（</a:t>
            </a:r>
            <a:r>
              <a:rPr lang="en-US" altLang="zh-CN" sz="2000" dirty="0"/>
              <a:t>SNP </a:t>
            </a:r>
            <a:r>
              <a:rPr lang="zh-CN" altLang="en-US" sz="2000" dirty="0"/>
              <a:t>数：</a:t>
            </a:r>
            <a:r>
              <a:rPr lang="en-US" altLang="zh-CN" sz="2000" dirty="0"/>
              <a:t>9,455,779</a:t>
            </a:r>
            <a:r>
              <a:rPr lang="zh-CN" altLang="en-US" sz="2000" dirty="0"/>
              <a:t>）。</a:t>
            </a:r>
          </a:p>
          <a:p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985521" y="75184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数据获取与环境</a:t>
            </a:r>
            <a:r>
              <a:rPr lang="zh-CN" altLang="en-US" sz="3200" b="1" dirty="0" smtClean="0"/>
              <a:t>初始化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120078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63601" y="1820921"/>
            <a:ext cx="11328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安装</a:t>
            </a:r>
            <a:r>
              <a:rPr lang="zh-CN" altLang="en-US" sz="2000" dirty="0"/>
              <a:t>并加载必要的包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985521" y="75184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环境初始化</a:t>
            </a:r>
            <a:endParaRPr lang="zh-CN" altLang="en-US" sz="32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901" y="2528807"/>
            <a:ext cx="6338353" cy="378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34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63601" y="1820921"/>
            <a:ext cx="11328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点右</a:t>
            </a:r>
            <a:r>
              <a:rPr lang="zh-CN" altLang="en-US" sz="2000" dirty="0" smtClean="0"/>
              <a:t>上角</a:t>
            </a:r>
            <a:r>
              <a:rPr lang="en-US" altLang="zh-CN" sz="2000" dirty="0" smtClean="0"/>
              <a:t>”Source”</a:t>
            </a:r>
            <a:r>
              <a:rPr lang="zh-CN" altLang="en-US" sz="2000" dirty="0" smtClean="0"/>
              <a:t>运行全部。</a:t>
            </a:r>
            <a:endParaRPr lang="en-US" altLang="zh-CN" sz="2000" dirty="0" smtClean="0"/>
          </a:p>
          <a:p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985521" y="75184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环境初始化</a:t>
            </a:r>
            <a:endParaRPr lang="zh-CN" altLang="en-US" sz="32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088" y="2926738"/>
            <a:ext cx="7971211" cy="275867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836088" y="3191070"/>
            <a:ext cx="839757" cy="23326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59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63601" y="1447696"/>
            <a:ext cx="113283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这几个</a:t>
            </a:r>
            <a:r>
              <a:rPr lang="zh-CN" altLang="en-US" sz="2000" dirty="0" smtClean="0"/>
              <a:t>包事先安装好，再</a:t>
            </a:r>
            <a:r>
              <a:rPr lang="en-US" altLang="zh-CN" sz="2000" dirty="0" smtClean="0"/>
              <a:t>library</a:t>
            </a:r>
            <a:r>
              <a:rPr lang="zh-CN" altLang="en-US" sz="2000" dirty="0" smtClean="0"/>
              <a:t>运行</a:t>
            </a:r>
            <a:endParaRPr lang="en-US" altLang="zh-CN" sz="2000" dirty="0" smtClean="0"/>
          </a:p>
          <a:p>
            <a:r>
              <a:rPr lang="zh-CN" altLang="en-US" sz="2000" dirty="0" smtClean="0"/>
              <a:t>安装时注意不要用清华的镜像（</a:t>
            </a:r>
            <a:r>
              <a:rPr lang="en-US" altLang="zh-CN" sz="2000" dirty="0" smtClean="0"/>
              <a:t>AI</a:t>
            </a:r>
            <a:r>
              <a:rPr lang="zh-CN" altLang="en-US" sz="2000" dirty="0" smtClean="0"/>
              <a:t>大概率会让你用清华的，但是清华已停止支持</a:t>
            </a:r>
            <a:r>
              <a:rPr lang="en-US" altLang="zh-CN" sz="2000" dirty="0" smtClean="0"/>
              <a:t>biocmanager3.20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r>
              <a:rPr lang="zh-CN" altLang="en-US" sz="2000" dirty="0" smtClean="0"/>
              <a:t>可以用西湖大学的镜像</a:t>
            </a:r>
            <a:endParaRPr lang="en-US" altLang="zh-CN" sz="2000" dirty="0" smtClean="0"/>
          </a:p>
          <a:p>
            <a:endParaRPr lang="en-US" altLang="zh-CN" sz="2000" dirty="0"/>
          </a:p>
          <a:p>
            <a:r>
              <a:rPr lang="fr-FR" altLang="zh-CN" sz="2000" dirty="0"/>
              <a:t>options("repos" = c(CRAN="https://mirrors.westlake.edu.cn/CRAN/"))</a:t>
            </a:r>
          </a:p>
          <a:p>
            <a:r>
              <a:rPr lang="fr-FR" altLang="zh-CN" sz="2000" dirty="0"/>
              <a:t>options(BioC_mirror="https://mirrors.westlake.edu.cn/bioconductor</a:t>
            </a:r>
            <a:r>
              <a:rPr lang="fr-FR" altLang="zh-CN" sz="2000" dirty="0" smtClean="0"/>
              <a:t>")</a:t>
            </a:r>
            <a:endParaRPr lang="fr-FR" altLang="zh-CN" sz="2000" dirty="0"/>
          </a:p>
          <a:p>
            <a:r>
              <a:rPr lang="zh-CN" altLang="en-US" sz="2000" dirty="0" smtClean="0"/>
              <a:t>把这两行代码贴到</a:t>
            </a:r>
            <a:r>
              <a:rPr lang="en-US" altLang="zh-CN" sz="2000" dirty="0" smtClean="0"/>
              <a:t>R</a:t>
            </a:r>
            <a:r>
              <a:rPr lang="zh-CN" altLang="en-US" sz="2000" dirty="0" smtClean="0"/>
              <a:t>语言的本地文件</a:t>
            </a:r>
            <a:r>
              <a:rPr lang="en-US" altLang="zh-CN" sz="2000" dirty="0" err="1" smtClean="0"/>
              <a:t>Rprofile.site</a:t>
            </a:r>
            <a:r>
              <a:rPr lang="zh-CN" altLang="en-US" sz="2000" dirty="0" smtClean="0"/>
              <a:t>里。（路径：你的</a:t>
            </a:r>
            <a:r>
              <a:rPr lang="en-US" altLang="zh-CN" sz="2000" dirty="0" smtClean="0"/>
              <a:t>R</a:t>
            </a:r>
            <a:r>
              <a:rPr lang="zh-CN" altLang="en-US" sz="2000" dirty="0" smtClean="0"/>
              <a:t>语言文件夹</a:t>
            </a:r>
            <a:r>
              <a:rPr lang="en-US" altLang="zh-CN" sz="2000" dirty="0" smtClean="0"/>
              <a:t>/</a:t>
            </a:r>
            <a:r>
              <a:rPr lang="en-US" altLang="zh-CN" sz="2000" dirty="0" err="1" smtClean="0"/>
              <a:t>etc</a:t>
            </a:r>
            <a:r>
              <a:rPr lang="en-US" altLang="zh-CN" sz="2000" dirty="0" smtClean="0"/>
              <a:t>/</a:t>
            </a:r>
            <a:r>
              <a:rPr lang="en-US" altLang="zh-CN" sz="2000" dirty="0" err="1" smtClean="0"/>
              <a:t>Rprofile.site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en-US" altLang="zh-CN" sz="2000" dirty="0" err="1" smtClean="0">
                <a:solidFill>
                  <a:srgbClr val="FF0000"/>
                </a:solidFill>
              </a:rPr>
              <a:t>Gwasglue</a:t>
            </a:r>
            <a:r>
              <a:rPr lang="zh-CN" altLang="en-US" sz="2000" dirty="0" smtClean="0">
                <a:solidFill>
                  <a:srgbClr val="FF0000"/>
                </a:solidFill>
              </a:rPr>
              <a:t>包里才有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gwasvcf_to_TwosampleMR</a:t>
            </a:r>
            <a:r>
              <a:rPr lang="zh-CN" altLang="en-US" sz="2000" dirty="0" smtClean="0">
                <a:solidFill>
                  <a:srgbClr val="FF0000"/>
                </a:solidFill>
              </a:rPr>
              <a:t>函数，不要下载</a:t>
            </a:r>
            <a:r>
              <a:rPr lang="en-US" altLang="zh-CN" sz="2000" dirty="0" smtClean="0">
                <a:solidFill>
                  <a:srgbClr val="FF0000"/>
                </a:solidFill>
              </a:rPr>
              <a:t>Gwasglue2</a:t>
            </a:r>
            <a:r>
              <a:rPr lang="zh-CN" altLang="en-US" sz="2000" dirty="0" smtClean="0">
                <a:solidFill>
                  <a:srgbClr val="FF0000"/>
                </a:solidFill>
              </a:rPr>
              <a:t>包！！！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5521" y="75184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环境初始化</a:t>
            </a:r>
            <a:endParaRPr lang="zh-CN" altLang="en-US" sz="32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474" y="4795209"/>
            <a:ext cx="6940651" cy="164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4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80506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选择合适的工具</a:t>
            </a:r>
            <a:r>
              <a:rPr lang="zh-CN" altLang="en-US" sz="3200" b="1" dirty="0" smtClean="0"/>
              <a:t>变量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/>
              <a:t>筛选强关联的 </a:t>
            </a:r>
            <a:r>
              <a:rPr lang="en-US" altLang="zh-CN" sz="3200" b="1" dirty="0"/>
              <a:t>SNP</a:t>
            </a:r>
            <a:endParaRPr lang="zh-CN" altLang="en-US" sz="32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313" y="1579211"/>
            <a:ext cx="7643522" cy="454191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44074" y="2649839"/>
            <a:ext cx="34429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注意：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保存路径注意区分“</a:t>
            </a:r>
            <a:r>
              <a:rPr lang="en-US" altLang="zh-CN" dirty="0" smtClean="0">
                <a:solidFill>
                  <a:srgbClr val="FF0000"/>
                </a:solidFill>
              </a:rPr>
              <a:t>/</a:t>
            </a:r>
            <a:r>
              <a:rPr lang="zh-CN" altLang="en-US" dirty="0" smtClean="0">
                <a:solidFill>
                  <a:srgbClr val="FF0000"/>
                </a:solidFill>
              </a:rPr>
              <a:t>”和“</a:t>
            </a:r>
            <a:r>
              <a:rPr lang="en-US" altLang="zh-CN" dirty="0" smtClean="0">
                <a:solidFill>
                  <a:srgbClr val="FF0000"/>
                </a:solidFill>
              </a:rPr>
              <a:t>\</a:t>
            </a:r>
            <a:r>
              <a:rPr lang="zh-CN" altLang="en-US" dirty="0" smtClean="0">
                <a:solidFill>
                  <a:srgbClr val="FF0000"/>
                </a:solidFill>
              </a:rPr>
              <a:t>”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47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80506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选择合适的工具</a:t>
            </a:r>
            <a:r>
              <a:rPr lang="zh-CN" altLang="en-US" sz="3200" b="1" dirty="0" smtClean="0"/>
              <a:t>变量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/>
              <a:t>筛选强关联的 </a:t>
            </a:r>
            <a:r>
              <a:rPr lang="en-US" altLang="zh-CN" sz="3200" b="1" dirty="0"/>
              <a:t>SNP</a:t>
            </a:r>
            <a:endParaRPr lang="zh-CN" altLang="en-US" sz="32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76" y="1803697"/>
            <a:ext cx="5841725" cy="2770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21" y="2185038"/>
            <a:ext cx="4045932" cy="105225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901" y="3385367"/>
            <a:ext cx="3892552" cy="26708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561045" y="2387998"/>
            <a:ext cx="3910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Bioconductor</a:t>
            </a:r>
            <a:r>
              <a:rPr lang="zh-CN" altLang="en-US" dirty="0" smtClean="0"/>
              <a:t>包也是</a:t>
            </a:r>
            <a:r>
              <a:rPr lang="en-US" altLang="zh-CN" dirty="0" err="1" smtClean="0"/>
              <a:t>gwasvcf</a:t>
            </a:r>
            <a:r>
              <a:rPr lang="zh-CN" altLang="en-US" dirty="0" smtClean="0"/>
              <a:t>包的基础</a:t>
            </a:r>
            <a:endParaRPr lang="en-US" altLang="zh-CN" dirty="0" smtClean="0"/>
          </a:p>
          <a:p>
            <a:r>
              <a:rPr lang="zh-CN" altLang="en-US" dirty="0" smtClean="0"/>
              <a:t>挂西湖大学的镜像下载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602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80506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选择合适的工具</a:t>
            </a:r>
            <a:r>
              <a:rPr lang="zh-CN" altLang="en-US" sz="3200" b="1" dirty="0" smtClean="0"/>
              <a:t>变量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/>
              <a:t>筛选强关联的 </a:t>
            </a:r>
            <a:r>
              <a:rPr lang="en-US" altLang="zh-CN" sz="3200" b="1" dirty="0"/>
              <a:t>SNP</a:t>
            </a:r>
            <a:endParaRPr lang="zh-CN" altLang="en-US" sz="32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55" y="1515715"/>
            <a:ext cx="7270110" cy="278154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238930" y="151571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最后得到：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930" y="2064147"/>
            <a:ext cx="3467400" cy="159271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10" y="3916188"/>
            <a:ext cx="3069240" cy="30692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114" y="3916188"/>
            <a:ext cx="4823082" cy="289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8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83920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选择合适的工具</a:t>
            </a:r>
            <a:r>
              <a:rPr lang="zh-CN" altLang="en-US" sz="3200" b="1" dirty="0" smtClean="0"/>
              <a:t>变量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/>
              <a:t>去除连锁不平衡效应</a:t>
            </a:r>
          </a:p>
          <a:p>
            <a:endParaRPr lang="zh-CN" altLang="en-US" sz="32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67" y="1551773"/>
            <a:ext cx="5704776" cy="235775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766926" y="1636940"/>
            <a:ext cx="52212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会</a:t>
            </a:r>
            <a:r>
              <a:rPr lang="zh-CN" altLang="en-US" dirty="0" smtClean="0"/>
              <a:t>显示：</a:t>
            </a:r>
            <a:endParaRPr lang="en-US" altLang="zh-CN" dirty="0" smtClean="0"/>
          </a:p>
          <a:p>
            <a:r>
              <a:rPr lang="zh-CN" altLang="en-US" dirty="0" smtClean="0"/>
              <a:t>错误</a:t>
            </a:r>
            <a:r>
              <a:rPr lang="zh-CN" altLang="en-US" dirty="0"/>
              <a:t>于</a:t>
            </a:r>
            <a:r>
              <a:rPr lang="en-US" altLang="zh-CN" dirty="0" err="1"/>
              <a:t>get_query_content</a:t>
            </a:r>
            <a:r>
              <a:rPr lang="en-US" altLang="zh-CN" dirty="0"/>
              <a:t>(.): Status code from </a:t>
            </a:r>
            <a:r>
              <a:rPr lang="en-US" altLang="zh-CN" dirty="0" err="1"/>
              <a:t>OpenGWAS</a:t>
            </a:r>
            <a:r>
              <a:rPr lang="en-US" altLang="zh-CN" dirty="0"/>
              <a:t> API: 401 Message: ERROR - Go to https://api.opengwas.io/ - From 1st May 2024 you must provide a token (JWT) alongside most of your requests. Read more at https://api.opengwas.io/ and also check for the latest version at https://mrcieu.github.io/ieugwasr/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61367" y="4184033"/>
            <a:ext cx="10953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注册</a:t>
            </a:r>
            <a:r>
              <a:rPr lang="en-US" altLang="zh-CN" dirty="0" err="1"/>
              <a:t>OpenGWAS</a:t>
            </a:r>
            <a:r>
              <a:rPr lang="en-US" altLang="zh-CN" dirty="0"/>
              <a:t> API </a:t>
            </a:r>
            <a:r>
              <a:rPr lang="en-US" altLang="zh-CN" dirty="0" smtClean="0"/>
              <a:t>Account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严格按照</a:t>
            </a:r>
            <a:r>
              <a:rPr lang="en-US" altLang="zh-CN" dirty="0">
                <a:hlinkClick r:id="rId3"/>
              </a:rPr>
              <a:t>https://</a:t>
            </a:r>
            <a:r>
              <a:rPr lang="en-US" altLang="zh-CN" dirty="0" smtClean="0">
                <a:hlinkClick r:id="rId3"/>
              </a:rPr>
              <a:t>www.zhihu.com/question/652416588</a:t>
            </a:r>
            <a:r>
              <a:rPr lang="zh-CN" altLang="en-US" dirty="0" smtClean="0"/>
              <a:t>里的解决方法处理即可。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67" y="4830364"/>
            <a:ext cx="5922584" cy="153402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708148" y="541271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最后得到：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1098" y="4907708"/>
            <a:ext cx="1249788" cy="137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2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7571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选择合适的工具</a:t>
            </a:r>
            <a:r>
              <a:rPr lang="zh-CN" altLang="en-US" sz="3200" b="1" dirty="0" smtClean="0"/>
              <a:t>变量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 smtClean="0"/>
              <a:t>去除</a:t>
            </a:r>
            <a:r>
              <a:rPr lang="zh-CN" altLang="en-US" sz="3200" b="1" dirty="0" smtClean="0"/>
              <a:t>弱工具变量</a:t>
            </a:r>
            <a:endParaRPr lang="zh-CN" altLang="en-US" sz="32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36" y="1699764"/>
            <a:ext cx="5632465" cy="432738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60841" y="2043404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这段代码只能跑一半。会出现以下错误：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841" y="2546985"/>
            <a:ext cx="5374266" cy="104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5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7571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选择合适的工具</a:t>
            </a:r>
            <a:r>
              <a:rPr lang="zh-CN" altLang="en-US" sz="3200" b="1" dirty="0" smtClean="0"/>
              <a:t>变量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 smtClean="0"/>
              <a:t>去除</a:t>
            </a:r>
            <a:r>
              <a:rPr lang="zh-CN" altLang="en-US" sz="3200" b="1" dirty="0" smtClean="0"/>
              <a:t>弱工具变量</a:t>
            </a:r>
            <a:endParaRPr lang="zh-CN" altLang="en-US" sz="32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985521" y="1716833"/>
            <a:ext cx="93714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作</a:t>
            </a:r>
            <a:r>
              <a:rPr lang="zh-CN" altLang="en-US" dirty="0" smtClean="0"/>
              <a:t>以下修改：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跳转至</a:t>
            </a:r>
            <a:r>
              <a:rPr lang="en-US" altLang="zh-CN" dirty="0">
                <a:hlinkClick r:id="rId2"/>
              </a:rPr>
              <a:t>https://</a:t>
            </a:r>
            <a:r>
              <a:rPr lang="en-US" altLang="zh-CN" dirty="0" smtClean="0">
                <a:hlinkClick r:id="rId2"/>
              </a:rPr>
              <a:t>github.com/TullyMonster/MendelRookie/blob/master/3_remove_weak_IV.R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复制图片中高亮的代码，代替原来这部分的代码，并修改变量</a:t>
            </a:r>
            <a:r>
              <a:rPr lang="en-US" altLang="zh-CN" dirty="0" smtClean="0"/>
              <a:t>F_THRESHOLD </a:t>
            </a:r>
            <a:r>
              <a:rPr lang="zh-CN" altLang="en-US" dirty="0" smtClean="0"/>
              <a:t>为 </a:t>
            </a:r>
            <a:r>
              <a:rPr lang="en-US" altLang="zh-CN" dirty="0" err="1" smtClean="0"/>
              <a:t>F_threshold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21" y="3467885"/>
            <a:ext cx="6455943" cy="315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5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7571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选择合适的工具</a:t>
            </a:r>
            <a:r>
              <a:rPr lang="zh-CN" altLang="en-US" sz="3200" b="1" dirty="0" smtClean="0"/>
              <a:t>变量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 smtClean="0"/>
              <a:t>去除</a:t>
            </a:r>
            <a:r>
              <a:rPr lang="zh-CN" altLang="en-US" sz="3200" b="1" dirty="0" smtClean="0"/>
              <a:t>弱工具变量</a:t>
            </a:r>
            <a:endParaRPr lang="zh-CN" altLang="en-US" sz="32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521" y="1922106"/>
            <a:ext cx="303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最终得到：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1" y="2568887"/>
            <a:ext cx="7750212" cy="14403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85520" y="4286641"/>
            <a:ext cx="303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以及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313" y="4009192"/>
            <a:ext cx="1150720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5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选择合适的工具</a:t>
            </a:r>
            <a:r>
              <a:rPr lang="zh-CN" altLang="en-US" sz="3200" b="1" dirty="0" smtClean="0"/>
              <a:t>变量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 smtClean="0"/>
              <a:t>去除</a:t>
            </a:r>
            <a:r>
              <a:rPr lang="zh-CN" altLang="en-US" sz="3200" b="1" dirty="0"/>
              <a:t>混杂因素</a:t>
            </a:r>
            <a:endParaRPr lang="zh-CN" altLang="en-US" sz="3200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1" y="1502144"/>
            <a:ext cx="8024555" cy="374174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387012" y="4292081"/>
            <a:ext cx="1838131" cy="21460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44142" y="5691674"/>
            <a:ext cx="5339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Token</a:t>
            </a:r>
            <a:r>
              <a:rPr lang="zh-CN" altLang="en-US" dirty="0" smtClean="0"/>
              <a:t>请查找：</a:t>
            </a:r>
            <a:r>
              <a:rPr lang="en-US" altLang="zh-CN" dirty="0"/>
              <a:t>https://ldlink.nih.gov/?tab=apiaccess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18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选择合适的工具</a:t>
            </a:r>
            <a:r>
              <a:rPr lang="zh-CN" altLang="en-US" sz="3200" b="1" dirty="0" smtClean="0"/>
              <a:t>变量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 smtClean="0"/>
              <a:t>去除</a:t>
            </a:r>
            <a:r>
              <a:rPr lang="zh-CN" altLang="en-US" sz="3200" b="1" dirty="0"/>
              <a:t>混杂因素</a:t>
            </a:r>
            <a:endParaRPr lang="zh-CN" altLang="en-US" sz="32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985521" y="1726164"/>
            <a:ext cx="5339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Token</a:t>
            </a:r>
            <a:r>
              <a:rPr lang="zh-CN" altLang="en-US" dirty="0" smtClean="0"/>
              <a:t>请查找：</a:t>
            </a:r>
            <a:r>
              <a:rPr lang="en-US" altLang="zh-CN" dirty="0"/>
              <a:t>https://ldlink.nih.gov/?tab=apiaccess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1" y="2316341"/>
            <a:ext cx="7318366" cy="367328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304661" y="2817845"/>
            <a:ext cx="765110" cy="47586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12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选择合适的工具</a:t>
            </a:r>
            <a:r>
              <a:rPr lang="zh-CN" altLang="en-US" sz="3200" b="1" dirty="0" smtClean="0"/>
              <a:t>变量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 smtClean="0"/>
              <a:t>去除</a:t>
            </a:r>
            <a:r>
              <a:rPr lang="zh-CN" altLang="en-US" sz="3200" b="1" dirty="0"/>
              <a:t>混杂因素</a:t>
            </a:r>
            <a:endParaRPr lang="zh-CN" altLang="en-US" sz="32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1" y="1631641"/>
            <a:ext cx="7864522" cy="29415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85521" y="543137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最后得到：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465" y="4868242"/>
            <a:ext cx="2225233" cy="15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2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正式</a:t>
            </a:r>
            <a:r>
              <a:rPr lang="zh-CN" altLang="en-US" sz="3200" b="1" dirty="0" smtClean="0"/>
              <a:t>的孟德尔随机化分析</a:t>
            </a:r>
            <a:endParaRPr lang="en-US" altLang="zh-CN" sz="3200" b="1" dirty="0" smtClean="0"/>
          </a:p>
        </p:txBody>
      </p:sp>
      <p:sp>
        <p:nvSpPr>
          <p:cNvPr id="2" name="文本框 1"/>
          <p:cNvSpPr txBox="1"/>
          <p:nvPr/>
        </p:nvSpPr>
        <p:spPr>
          <a:xfrm>
            <a:off x="1091682" y="1660849"/>
            <a:ext cx="7964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代码略 详见</a:t>
            </a:r>
            <a:r>
              <a:rPr lang="en-US" altLang="zh-CN" b="1" dirty="0">
                <a:hlinkClick r:id="rId2"/>
              </a:rPr>
              <a:t>https://www.yuque.com/tully-sci/consensus/wts8foqt1c2r6cqf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802" y="2211715"/>
            <a:ext cx="7887383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39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正式</a:t>
            </a:r>
            <a:r>
              <a:rPr lang="zh-CN" altLang="en-US" sz="3200" b="1" dirty="0" smtClean="0"/>
              <a:t>的孟德尔随机化分析</a:t>
            </a:r>
            <a:endParaRPr lang="en-US" altLang="zh-CN" sz="3200" b="1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34" y="1897030"/>
            <a:ext cx="7536833" cy="89923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23934" y="3022336"/>
            <a:ext cx="5783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VCF → </a:t>
            </a:r>
            <a:r>
              <a:rPr lang="en-US" altLang="zh-CN" b="1" dirty="0" err="1"/>
              <a:t>TwoSampleMR</a:t>
            </a:r>
            <a:r>
              <a:rPr lang="en-US" altLang="zh-CN" b="1" dirty="0"/>
              <a:t> </a:t>
            </a:r>
            <a:r>
              <a:rPr lang="zh-CN" altLang="en-US" b="1" dirty="0"/>
              <a:t>格式</a:t>
            </a:r>
            <a:r>
              <a:rPr lang="zh-CN" altLang="en-US" b="1" dirty="0" smtClean="0"/>
              <a:t>转换耗时较长，需耐心等待</a:t>
            </a:r>
            <a:endParaRPr lang="en-US" altLang="zh-CN" b="1" dirty="0" smtClean="0"/>
          </a:p>
        </p:txBody>
      </p:sp>
      <p:sp>
        <p:nvSpPr>
          <p:cNvPr id="7" name="文本框 6"/>
          <p:cNvSpPr txBox="1"/>
          <p:nvPr/>
        </p:nvSpPr>
        <p:spPr>
          <a:xfrm>
            <a:off x="1050835" y="425571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最后得到：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381" y="3545633"/>
            <a:ext cx="1507931" cy="29952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350" y="3909136"/>
            <a:ext cx="6033331" cy="827603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>
            <a:off x="3334882" y="4322936"/>
            <a:ext cx="1557468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584579" y="4161453"/>
            <a:ext cx="750303" cy="27058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291770" y="3539804"/>
            <a:ext cx="2967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查看 </a:t>
            </a:r>
            <a:r>
              <a:rPr lang="en-US" altLang="zh-CN" dirty="0"/>
              <a:t>5 </a:t>
            </a:r>
            <a:r>
              <a:rPr lang="zh-CN" altLang="en-US" dirty="0"/>
              <a:t>种方法下的 </a:t>
            </a:r>
            <a:r>
              <a:rPr lang="en-US" altLang="zh-CN" dirty="0"/>
              <a:t>MR </a:t>
            </a:r>
            <a:r>
              <a:rPr lang="zh-CN" altLang="en-US" dirty="0"/>
              <a:t>结果</a:t>
            </a:r>
          </a:p>
        </p:txBody>
      </p:sp>
    </p:spTree>
    <p:extLst>
      <p:ext uri="{BB962C8B-B14F-4D97-AF65-F5344CB8AC3E}">
        <p14:creationId xmlns:p14="http://schemas.microsoft.com/office/powerpoint/2010/main" val="400060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正式</a:t>
            </a:r>
            <a:r>
              <a:rPr lang="zh-CN" altLang="en-US" sz="3200" b="1" dirty="0" smtClean="0"/>
              <a:t>的孟德尔随机化分析</a:t>
            </a:r>
            <a:endParaRPr lang="en-US" altLang="zh-CN" sz="3200" b="1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77" y="1408921"/>
            <a:ext cx="5306409" cy="492163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285723" y="1531881"/>
            <a:ext cx="455644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将各个 </a:t>
            </a:r>
            <a:r>
              <a:rPr lang="en-US" altLang="zh-CN" dirty="0"/>
              <a:t>SNP </a:t>
            </a:r>
            <a:r>
              <a:rPr lang="zh-CN" altLang="en-US" dirty="0"/>
              <a:t>的效应值单独可视化为</a:t>
            </a:r>
            <a:r>
              <a:rPr lang="zh-CN" altLang="en-US" b="1" dirty="0"/>
              <a:t>森林图</a:t>
            </a:r>
            <a:r>
              <a:rPr lang="zh-CN" altLang="en-US" dirty="0"/>
              <a:t>，可见，绝大部分的 </a:t>
            </a:r>
            <a:r>
              <a:rPr lang="en-US" altLang="zh-CN" dirty="0"/>
              <a:t>SNP </a:t>
            </a:r>
            <a:r>
              <a:rPr lang="zh-CN" altLang="en-US" dirty="0"/>
              <a:t>都为正值（在右侧），有几个 </a:t>
            </a:r>
            <a:r>
              <a:rPr lang="en-US" altLang="zh-CN" dirty="0"/>
              <a:t>SNP </a:t>
            </a:r>
            <a:r>
              <a:rPr lang="zh-CN" altLang="en-US" dirty="0"/>
              <a:t>是可能得保护因素（在左侧）。总体而言，这些 </a:t>
            </a:r>
            <a:r>
              <a:rPr lang="en-US" altLang="zh-CN" dirty="0"/>
              <a:t>SNP </a:t>
            </a:r>
            <a:r>
              <a:rPr lang="zh-CN" altLang="en-US" dirty="0"/>
              <a:t>代表的暴露因素（</a:t>
            </a:r>
            <a:r>
              <a:rPr lang="en-US" altLang="zh-CN" dirty="0"/>
              <a:t>BMI</a:t>
            </a:r>
            <a:r>
              <a:rPr lang="zh-CN" altLang="en-US" dirty="0"/>
              <a:t>）是结局（冠心病）的风险因素。</a:t>
            </a:r>
            <a:endParaRPr lang="zh-CN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8368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正式</a:t>
            </a:r>
            <a:r>
              <a:rPr lang="zh-CN" altLang="en-US" sz="3200" b="1" dirty="0" smtClean="0"/>
              <a:t>的孟德尔随机化分析</a:t>
            </a:r>
            <a:endParaRPr lang="en-US" altLang="zh-CN" sz="3200" b="1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25" y="1445512"/>
            <a:ext cx="5184313" cy="481763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76392" y="1445512"/>
            <a:ext cx="506030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使用留一法评估单个工具变量对结局的影响，检验结果的稳健性和可靠性，排除结果是否受特定假设的影响。即逐个剔除 </a:t>
            </a:r>
            <a:r>
              <a:rPr lang="en-US" altLang="zh-CN" dirty="0"/>
              <a:t>SNP</a:t>
            </a:r>
            <a:r>
              <a:rPr lang="zh-CN" altLang="en-US" dirty="0"/>
              <a:t>，分别重新进行 </a:t>
            </a:r>
            <a:r>
              <a:rPr lang="en-US" altLang="zh-CN" dirty="0"/>
              <a:t>MR </a:t>
            </a:r>
            <a:r>
              <a:rPr lang="zh-CN" altLang="en-US" dirty="0"/>
              <a:t>分析，绘制</a:t>
            </a:r>
            <a:r>
              <a:rPr lang="zh-CN" altLang="en-US" b="1" dirty="0"/>
              <a:t>森林图</a:t>
            </a:r>
            <a:r>
              <a:rPr lang="zh-CN" altLang="en-US" dirty="0"/>
              <a:t>，比较分析结果。下图所示的森林图中各点，表示剔除后的分析结果。不应与总体效应有太大差异，均在 </a:t>
            </a:r>
            <a:r>
              <a:rPr lang="en-US" altLang="zh-CN" dirty="0"/>
              <a:t>β=0 </a:t>
            </a:r>
            <a:r>
              <a:rPr lang="zh-CN" altLang="en-US" dirty="0"/>
              <a:t>所在直线的同侧。</a:t>
            </a:r>
            <a:endParaRPr lang="zh-CN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0368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5521" y="75184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正式</a:t>
            </a:r>
            <a:r>
              <a:rPr lang="zh-CN" altLang="en-US" sz="3200" b="1" dirty="0" smtClean="0"/>
              <a:t>的孟德尔随机化分析</a:t>
            </a:r>
            <a:endParaRPr lang="en-US" altLang="zh-CN" sz="3200" b="1" dirty="0" smtClean="0"/>
          </a:p>
        </p:txBody>
      </p:sp>
      <p:sp>
        <p:nvSpPr>
          <p:cNvPr id="6" name="矩形 5"/>
          <p:cNvSpPr/>
          <p:nvPr/>
        </p:nvSpPr>
        <p:spPr>
          <a:xfrm>
            <a:off x="5968481" y="18275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绘制各个 </a:t>
            </a:r>
            <a:r>
              <a:rPr lang="en-US" altLang="zh-CN" dirty="0"/>
              <a:t>SNP </a:t>
            </a:r>
            <a:r>
              <a:rPr lang="zh-CN" altLang="en-US" dirty="0"/>
              <a:t>点分布的</a:t>
            </a:r>
            <a:r>
              <a:rPr lang="zh-CN" altLang="en-US" b="1" dirty="0"/>
              <a:t>漏斗图</a:t>
            </a:r>
            <a:r>
              <a:rPr lang="zh-CN" altLang="en-US" dirty="0"/>
              <a:t>，确保轴线两侧是不存在数量上的偏倚。</a:t>
            </a:r>
            <a:endParaRPr lang="zh-CN" altLang="en-US" dirty="0">
              <a:effectLst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38" y="1827541"/>
            <a:ext cx="4779287" cy="4430472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5968481" y="2938676"/>
            <a:ext cx="543974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异质性评估</a:t>
            </a:r>
            <a:r>
              <a:rPr lang="zh-CN" altLang="en-US" dirty="0">
                <a:latin typeface="Arial" panose="020B0604020202020204" pitchFamily="34" charset="0"/>
              </a:rPr>
              <a:t>：</a:t>
            </a: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根据 </a:t>
            </a:r>
            <a:r>
              <a:rPr kumimoji="0" lang="zh-CN" altLang="zh-CN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&gt;0.05 判断工具变量不因分析平台、</a:t>
            </a:r>
            <a:r>
              <a:rPr lang="zh-CN" altLang="zh-CN" dirty="0">
                <a:latin typeface="Arial" panose="020B0604020202020204" pitchFamily="34" charset="0"/>
              </a:rPr>
              <a:t>实验设计、人群等异质性。参见分析结果的heterogeneity.csv</a:t>
            </a:r>
            <a:r>
              <a:rPr lang="zh-CN" altLang="zh-CN" dirty="0" smtClean="0">
                <a:latin typeface="Arial" panose="020B0604020202020204" pitchFamily="34" charset="0"/>
              </a:rPr>
              <a:t>文件</a:t>
            </a:r>
            <a:r>
              <a:rPr lang="zh-CN" altLang="en-US" dirty="0" smtClean="0">
                <a:latin typeface="Arial" panose="020B0604020202020204" pitchFamily="34" charset="0"/>
              </a:rPr>
              <a:t>。</a:t>
            </a:r>
            <a:endParaRPr lang="en-US" altLang="zh-CN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 smtClean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/>
              <a:t>在 </a:t>
            </a:r>
            <a:r>
              <a:rPr lang="en-US" altLang="zh-CN" dirty="0"/>
              <a:t>MR Egger </a:t>
            </a:r>
            <a:r>
              <a:rPr lang="zh-CN" altLang="en-US" dirty="0"/>
              <a:t>法的截距测试中，通过</a:t>
            </a:r>
            <a:r>
              <a:rPr lang="zh-CN" altLang="en-US" b="1" dirty="0"/>
              <a:t>多效性评估</a:t>
            </a:r>
            <a:r>
              <a:rPr lang="zh-CN" altLang="en-US" dirty="0"/>
              <a:t>，根据 </a:t>
            </a:r>
            <a:r>
              <a:rPr lang="en-US" altLang="zh-CN" i="1" dirty="0"/>
              <a:t>P</a:t>
            </a:r>
            <a:r>
              <a:rPr lang="en-US" altLang="zh-CN" dirty="0"/>
              <a:t>&gt;0.05 </a:t>
            </a:r>
            <a:r>
              <a:rPr lang="zh-CN" altLang="en-US" dirty="0"/>
              <a:t>判断工具变量不存在多效性。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zh-CN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441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3570</TotalTime>
  <Words>1574</Words>
  <Application>Microsoft Office PowerPoint</Application>
  <PresentationFormat>宽屏</PresentationFormat>
  <Paragraphs>137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9" baseType="lpstr">
      <vt:lpstr>等线</vt:lpstr>
      <vt:lpstr>等线 Light</vt:lpstr>
      <vt:lpstr>Arial</vt:lpstr>
      <vt:lpstr>Office 主题​​</vt:lpstr>
      <vt:lpstr>SOP for  Mendelian Randomization(MR)  By 王泓哲</vt:lpstr>
      <vt:lpstr>一、数据获取</vt:lpstr>
      <vt:lpstr>①https://gwas.mrcieu.ac.uk/</vt:lpstr>
      <vt:lpstr>①https://gwas.mrcieu.ac.uk/</vt:lpstr>
      <vt:lpstr>①https://gwas.mrcieu.ac.uk/</vt:lpstr>
      <vt:lpstr>①https://gwas.mrcieu.ac.uk/</vt:lpstr>
      <vt:lpstr>①https://gwas.mrcieu.ac.uk/</vt:lpstr>
      <vt:lpstr>①https://gwas.mrcieu.ac.uk/</vt:lpstr>
      <vt:lpstr>①https://gwas.mrcieu.ac.uk/</vt:lpstr>
      <vt:lpstr>②https://www.finngen.fi/en/access_results</vt:lpstr>
      <vt:lpstr>②https://www.finngen.fi/en/access_results</vt:lpstr>
      <vt:lpstr>②https://www.finngen.fi/en/access_results</vt:lpstr>
      <vt:lpstr>二、分析流程</vt:lpstr>
      <vt:lpstr>PowerPoint 演示文稿</vt:lpstr>
      <vt:lpstr>PowerPoint 演示文稿</vt:lpstr>
      <vt:lpstr>三、复现  https://www.yuque.com/tully-sci/consensus/wts8foqt1c2r6cqf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ASUS</cp:lastModifiedBy>
  <cp:revision>32</cp:revision>
  <dcterms:created xsi:type="dcterms:W3CDTF">2026-02-01T15:54:28Z</dcterms:created>
  <dcterms:modified xsi:type="dcterms:W3CDTF">2026-02-04T16:59:34Z</dcterms:modified>
</cp:coreProperties>
</file>